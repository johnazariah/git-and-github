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Git &amp; GitHub</a:t>
            </a:r>
            <a:br/>
            <a:r>
              <a:t>for Research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9D1D9"/>
                </a:solidFill>
                <a:latin typeface="Calibri"/>
              </a:defRPr>
            </a:pPr>
            <a:r>
              <a:t>A Hands-On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8A6FF"/>
                </a:solidFill>
                <a:latin typeface="Calibri"/>
              </a:defRPr>
            </a:pPr>
            <a:r>
              <a:t>github.com/johnazariah/git-and-github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8A6FF"/>
                </a:solidFill>
                <a:latin typeface="Calibri"/>
              </a:defRPr>
            </a:pPr>
            <a:r>
              <a:t>Block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Why Git?</a:t>
            </a:r>
            <a:br/>
            <a:r>
              <a:t>From Chaos to Citable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A6FF"/>
                </a:solidFill>
                <a:latin typeface="Calibri"/>
              </a:defRPr>
            </a:pPr>
            <a:r>
              <a:t>Block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analysis_final_v2_REAL_FINAL.py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thesis_v3_supervisor_comments_FIXED.docx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"Which version did we submit?"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"Who changed the regression last Tuesday?"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29E22"/>
                </a:solidFill>
                <a:latin typeface="Calibri"/>
              </a:defRPr>
            </a:pPr>
            <a:r>
              <a:t>Sound familiar?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A6FF"/>
                </a:solidFill>
                <a:latin typeface="Calibri"/>
              </a:defRPr>
            </a:pPr>
            <a:r>
              <a:t>Block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Git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C9D1D9"/>
                </a:solidFill>
                <a:latin typeface="Calibri"/>
              </a:defRPr>
            </a:pPr>
            <a:r>
              <a:t>Takes snapshots of your project at moments you choose</a:t>
            </a:r>
          </a:p>
          <a:p>
            <a:pPr>
              <a:spcAft>
                <a:spcPts val="800"/>
              </a:spcAft>
              <a:defRPr sz="2200">
                <a:solidFill>
                  <a:srgbClr val="C9D1D9"/>
                </a:solidFill>
                <a:latin typeface="Calibri"/>
              </a:defRPr>
            </a:pPr>
            <a:r>
              <a:t>Every snapshot has a message explaining what and why</a:t>
            </a:r>
          </a:p>
          <a:p>
            <a:pPr>
              <a:spcAft>
                <a:spcPts val="800"/>
              </a:spcAft>
              <a:defRPr sz="2200">
                <a:solidFill>
                  <a:srgbClr val="C9D1D9"/>
                </a:solidFill>
                <a:latin typeface="Calibri"/>
              </a:defRPr>
            </a:pPr>
            <a:r>
              <a:t>You can go back to any snapshot, compare any two</a:t>
            </a:r>
          </a:p>
          <a:p>
            <a:pPr>
              <a:spcAft>
                <a:spcPts val="800"/>
              </a:spcAft>
              <a:defRPr sz="2200">
                <a:solidFill>
                  <a:srgbClr val="C9D1D9"/>
                </a:solidFill>
                <a:latin typeface="Calibri"/>
              </a:defRPr>
            </a:pPr>
            <a:r>
              <a:t>Branch off in different directions without risk</a:t>
            </a:r>
          </a:p>
          <a:p>
            <a:pPr>
              <a:spcAft>
                <a:spcPts val="800"/>
              </a:spcAft>
              <a:defRPr sz="2200">
                <a:solidFill>
                  <a:srgbClr val="C9D1D9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C9D1D9"/>
                </a:solidFill>
                <a:latin typeface="Calibri"/>
              </a:defRPr>
            </a:pPr>
            <a:r>
              <a:t>Think of it as a lab notebook for your code.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A6FF"/>
                </a:solidFill>
                <a:latin typeface="Calibri"/>
              </a:defRPr>
            </a:pPr>
            <a:r>
              <a:t>Block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Code Gets a DOI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C9D1D9"/>
                </a:solidFill>
                <a:latin typeface="Calibri"/>
              </a:defRPr>
            </a:pPr>
            <a:r>
              <a:t>Connect your GitHub repo to Zenodo (zenodo.org)</a:t>
            </a:r>
          </a:p>
          <a:p>
            <a:pPr>
              <a:spcAft>
                <a:spcPts val="800"/>
              </a:spcAft>
              <a:defRPr sz="2200">
                <a:solidFill>
                  <a:srgbClr val="C9D1D9"/>
                </a:solidFill>
                <a:latin typeface="Calibri"/>
              </a:defRPr>
            </a:pPr>
            <a:r>
              <a:t>Create a Release on GitHub</a:t>
            </a:r>
          </a:p>
          <a:p>
            <a:pPr>
              <a:spcAft>
                <a:spcPts val="800"/>
              </a:spcAft>
              <a:defRPr sz="2200">
                <a:solidFill>
                  <a:srgbClr val="C9D1D9"/>
                </a:solidFill>
                <a:latin typeface="Calibri"/>
              </a:defRPr>
            </a:pPr>
            <a:r>
              <a:t>Zenodo archives it and mints a DOI</a:t>
            </a:r>
          </a:p>
          <a:p>
            <a:pPr>
              <a:spcAft>
                <a:spcPts val="800"/>
              </a:spcAft>
              <a:defRPr sz="2200">
                <a:solidFill>
                  <a:srgbClr val="C9D1D9"/>
                </a:solidFill>
                <a:latin typeface="Calibri"/>
              </a:defRPr>
            </a:pPr>
            <a:r>
              <a:t>That DOI goes in your paper's data availability statement</a:t>
            </a:r>
          </a:p>
          <a:p>
            <a:pPr>
              <a:spcAft>
                <a:spcPts val="800"/>
              </a:spcAft>
              <a:defRPr sz="2200">
                <a:solidFill>
                  <a:srgbClr val="C9D1D9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C9D1D9"/>
                </a:solidFill>
                <a:latin typeface="Calibri"/>
              </a:defRPr>
            </a:pPr>
            <a:r>
              <a:t>Reviewers click it, they see your exact code.</a:t>
            </a:r>
          </a:p>
          <a:p>
            <a:pPr>
              <a:spcAft>
                <a:spcPts val="800"/>
              </a:spcAft>
              <a:defRPr sz="2200">
                <a:solidFill>
                  <a:srgbClr val="C9D1D9"/>
                </a:solidFill>
                <a:latin typeface="Calibri"/>
              </a:defRPr>
            </a:pPr>
            <a:r>
              <a:t>Nature, PLOS, Science all require this now.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8A6FF"/>
                </a:solidFill>
                <a:latin typeface="Calibri"/>
              </a:defRPr>
            </a:pPr>
            <a:r>
              <a:t>Block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Git Fundamentals</a:t>
            </a:r>
            <a:br/>
            <a:r>
              <a:t>Solo Workflow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A6FF"/>
                </a:solidFill>
                <a:latin typeface="Calibri"/>
              </a:defRPr>
            </a:pPr>
            <a:r>
              <a:t>Block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Three Zones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solidFill>
            <a:srgbClr val="0D1117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Working Directory  ---&gt;  Staging Area  ---&gt;  Repository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    (you edit)            (git add)          (git commit)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Working Directory: where you edit files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Staging Area: where you prepare a snapshot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Repository: the saved snapshots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A6FF"/>
                </a:solidFill>
                <a:latin typeface="Calibri"/>
              </a:defRPr>
            </a:pPr>
            <a:r>
              <a:t>Block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Create a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114800"/>
          </a:xfrm>
          <a:prstGeom prst="rect">
            <a:avLst/>
          </a:prstGeom>
          <a:solidFill>
            <a:srgbClr val="0D1117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mkdir climate-analysis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cd climate-analysis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init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status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"On branch main, nothing to commit"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Create README.md with your editor, then: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add README.md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status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"Changes to be staged"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commit -m "Add project README with description"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A6FF"/>
                </a:solidFill>
                <a:latin typeface="Calibri"/>
              </a:defRPr>
            </a:pPr>
            <a:r>
              <a:t>Block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Add a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114800"/>
          </a:xfrm>
          <a:prstGeom prst="rect">
            <a:avLst/>
          </a:prstGeom>
          <a:solidFill>
            <a:srgbClr val="0D1117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Create clean_data.py, then: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add clean_data.py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commit -m "Add data cleaning script \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  with outlier removal"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log --oneline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2 commits, each with a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29E22"/>
                </a:solidFill>
                <a:latin typeface="Calibri"/>
              </a:defRPr>
            </a:pPr>
            <a:r>
              <a:t>Commit messages should say</a:t>
            </a:r>
            <a:br/>
            <a:r>
              <a:t>WHAT and 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474720"/>
            <a:ext cx="5029200" cy="2286000"/>
          </a:xfrm>
          <a:prstGeom prst="rect">
            <a:avLst/>
          </a:prstGeom>
          <a:solidFill>
            <a:srgbClr val="0D1117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Good: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"Add regression analysis for H2"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"Fix off-by-one in date parsing"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Bad: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"update"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"asdf"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"stuff"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A6FF"/>
                </a:solidFill>
                <a:latin typeface="Calibri"/>
              </a:defRPr>
            </a:pPr>
            <a:r>
              <a:t>Block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Notebook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1371600"/>
          </a:xfrm>
          <a:prstGeom prst="rect">
            <a:avLst/>
          </a:prstGeom>
          <a:solidFill>
            <a:srgbClr val="0D1117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add explore.ipynb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commit -m "Add exploratory analysis notebook"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diff HEAD~1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... ugly JSON blob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Notebooks are stored as JSON - diffs are unreadable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Plain .py files give you clean, reviewable diffs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Tools: nbstripout (strips output), jupytext (.ipynb &lt;-&gt; .py sync)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Rule of thumb: notebooks for exploration, .py for reusable code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A6FF"/>
                </a:solidFill>
                <a:latin typeface="Calibri"/>
              </a:defRPr>
            </a:pPr>
            <a:r>
              <a:t>Block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.gitignore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29E22"/>
                </a:solidFill>
                <a:latin typeface="Calibri"/>
              </a:defRPr>
            </a:pPr>
            <a:r>
              <a:t>If it's generated, large, or secret - it goes in .gitignore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solidFill>
            <a:srgbClr val="0D1117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Data files (too large for Git)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data/*.csv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data/*.h5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*.parquet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Notebook checkpoints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.ipynb_checkpoints/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Python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__pycache__/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*.pyc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.venv/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Secrets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.env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credentials.json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029200" cy="1828800"/>
          </a:xfrm>
          <a:prstGeom prst="rect">
            <a:avLst/>
          </a:prstGeom>
          <a:solidFill>
            <a:srgbClr val="0D1117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add .gitignore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commit -m "Add .gitignore for \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  data files and secrets"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A6FF"/>
                </a:solidFill>
                <a:latin typeface="Calibri"/>
              </a:defRPr>
            </a:pPr>
            <a:r>
              <a:t>Block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Exercise 1: Create Your Research Repo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8A6FF"/>
                </a:solidFill>
                <a:latin typeface="Calibri"/>
              </a:defRPr>
            </a:pPr>
            <a:r>
              <a:t>10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C9D1D9"/>
                </a:solidFill>
                <a:latin typeface="Calibri"/>
              </a:defRPr>
            </a:pPr>
            <a:r>
              <a:t>1. mkdir my-project &amp;&amp; cd my-project</a:t>
            </a:r>
          </a:p>
          <a:p>
            <a:pPr>
              <a:spcAft>
                <a:spcPts val="800"/>
              </a:spcAft>
              <a:defRPr sz="2200">
                <a:solidFill>
                  <a:srgbClr val="C9D1D9"/>
                </a:solidFill>
                <a:latin typeface="Calibri"/>
              </a:defRPr>
            </a:pPr>
            <a:r>
              <a:t>2. git init</a:t>
            </a:r>
          </a:p>
          <a:p>
            <a:pPr>
              <a:spcAft>
                <a:spcPts val="800"/>
              </a:spcAft>
              <a:defRPr sz="2200">
                <a:solidFill>
                  <a:srgbClr val="C9D1D9"/>
                </a:solidFill>
                <a:latin typeface="Calibri"/>
              </a:defRPr>
            </a:pPr>
            <a:r>
              <a:t>3. Create a README.md (2-3 lines)</a:t>
            </a:r>
          </a:p>
          <a:p>
            <a:pPr>
              <a:spcAft>
                <a:spcPts val="800"/>
              </a:spcAft>
              <a:defRPr sz="2200">
                <a:solidFill>
                  <a:srgbClr val="C9D1D9"/>
                </a:solidFill>
                <a:latin typeface="Calibri"/>
              </a:defRPr>
            </a:pPr>
            <a:r>
              <a:t>4. Create a Python script</a:t>
            </a:r>
          </a:p>
          <a:p>
            <a:pPr>
              <a:spcAft>
                <a:spcPts val="800"/>
              </a:spcAft>
              <a:defRPr sz="2200">
                <a:solidFill>
                  <a:srgbClr val="C9D1D9"/>
                </a:solidFill>
                <a:latin typeface="Calibri"/>
              </a:defRPr>
            </a:pPr>
            <a:r>
              <a:t>5. Create a .gitignore</a:t>
            </a:r>
          </a:p>
          <a:p>
            <a:pPr>
              <a:spcAft>
                <a:spcPts val="800"/>
              </a:spcAft>
              <a:defRPr sz="2200">
                <a:solidFill>
                  <a:srgbClr val="C9D1D9"/>
                </a:solidFill>
                <a:latin typeface="Calibri"/>
              </a:defRPr>
            </a:pPr>
            <a:r>
              <a:t>6. Make at least 3 commits</a:t>
            </a:r>
          </a:p>
          <a:p>
            <a:pPr>
              <a:spcAft>
                <a:spcPts val="800"/>
              </a:spcAft>
              <a:defRPr sz="2200">
                <a:solidFill>
                  <a:srgbClr val="C9D1D9"/>
                </a:solidFill>
                <a:latin typeface="Calibri"/>
              </a:defRPr>
            </a:pPr>
            <a:r>
              <a:t>7. git log --oneline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FB950"/>
                </a:solidFill>
                <a:latin typeface="Calibri"/>
              </a:defRPr>
            </a:pPr>
            <a:r>
              <a:t>Finished early?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9D1D9"/>
                </a:solidFill>
                <a:latin typeface="Calibri"/>
              </a:defRPr>
            </a:pPr>
            <a:r>
              <a:t>git log --graph --all --oneline</a:t>
            </a:r>
          </a:p>
          <a:p>
            <a:pPr>
              <a:spcAft>
                <a:spcPts val="800"/>
              </a:spcAft>
              <a:defRPr sz="1800">
                <a:solidFill>
                  <a:srgbClr val="C9D1D9"/>
                </a:solidFill>
                <a:latin typeface="Calibri"/>
              </a:defRPr>
            </a:pPr>
            <a:r>
              <a:t>git diff HEAD~2</a:t>
            </a:r>
          </a:p>
          <a:p>
            <a:pPr>
              <a:spcAft>
                <a:spcPts val="800"/>
              </a:spcAft>
              <a:defRPr sz="1800">
                <a:solidFill>
                  <a:srgbClr val="C9D1D9"/>
                </a:solidFill>
                <a:latin typeface="Calibri"/>
              </a:defRPr>
            </a:pPr>
            <a:r>
              <a:t>Edit a file, then git diff before staging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8A6FF"/>
                </a:solidFill>
                <a:latin typeface="Calibri"/>
              </a:defRPr>
            </a:pPr>
            <a:r>
              <a:t>Block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GitHub</a:t>
            </a:r>
            <a:br/>
            <a:r>
              <a:t>Your Research Portfolio + Actions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A6FF"/>
                </a:solidFill>
                <a:latin typeface="Calibri"/>
              </a:defRPr>
            </a:pPr>
            <a:r>
              <a:t>Block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Push to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114800"/>
          </a:xfrm>
          <a:prstGeom prst="rect">
            <a:avLst/>
          </a:prstGeom>
          <a:solidFill>
            <a:srgbClr val="0D1117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On GitHub: New Repository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Name: climate-analysis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Do NOT initialise with README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In your terminal: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remote add origin \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  https://github.com/YOU/climate-analysis.git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branch -M main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push -u origin 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C9D1D9"/>
                </a:solidFill>
                <a:latin typeface="Calibri"/>
              </a:defRPr>
            </a:pPr>
            <a:r>
              <a:t>Your laptop has a copy</a:t>
            </a:r>
          </a:p>
          <a:p>
            <a:pPr>
              <a:spcAft>
                <a:spcPts val="800"/>
              </a:spcAft>
              <a:defRPr sz="2200">
                <a:solidFill>
                  <a:srgbClr val="C9D1D9"/>
                </a:solidFill>
                <a:latin typeface="Calibri"/>
              </a:defRPr>
            </a:pPr>
            <a:r>
              <a:t>GitHub now has a copy</a:t>
            </a:r>
          </a:p>
          <a:p>
            <a:pPr>
              <a:spcAft>
                <a:spcPts val="800"/>
              </a:spcAft>
              <a:defRPr sz="2200">
                <a:solidFill>
                  <a:srgbClr val="C9D1D9"/>
                </a:solidFill>
                <a:latin typeface="Calibri"/>
              </a:defRPr>
            </a:pPr>
            <a:r>
              <a:t>push sends snapshots to GitHub</a:t>
            </a:r>
          </a:p>
          <a:p>
            <a:pPr>
              <a:spcAft>
                <a:spcPts val="800"/>
              </a:spcAft>
              <a:defRPr sz="2200">
                <a:solidFill>
                  <a:srgbClr val="C9D1D9"/>
                </a:solidFill>
                <a:latin typeface="Calibri"/>
              </a:defRPr>
            </a:pPr>
            <a:r>
              <a:t>pull brings changes back 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1148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29E22"/>
                </a:solidFill>
                <a:latin typeface="Calibri"/>
              </a:defRPr>
            </a:pPr>
            <a:r>
              <a:t>Auth issues? Run:</a:t>
            </a:r>
            <a:br/>
            <a:r>
              <a:t>gh auth login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A6FF"/>
                </a:solidFill>
                <a:latin typeface="Calibri"/>
              </a:defRPr>
            </a:pPr>
            <a:r>
              <a:t>Block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GitHub Features for Researchers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C9D1D9"/>
                </a:solidFill>
                <a:latin typeface="Calibri"/>
              </a:defRPr>
            </a:pPr>
            <a:r>
              <a:t>README renders as your project's landing page</a:t>
            </a:r>
          </a:p>
          <a:p>
            <a:pPr>
              <a:spcAft>
                <a:spcPts val="800"/>
              </a:spcAft>
              <a:defRPr sz="2400">
                <a:solidFill>
                  <a:srgbClr val="C9D1D9"/>
                </a:solidFill>
                <a:latin typeface="Calibri"/>
              </a:defRPr>
            </a:pPr>
            <a:r>
              <a:t>Commit history - click any commit to see what changed</a:t>
            </a:r>
          </a:p>
          <a:p>
            <a:pPr>
              <a:spcAft>
                <a:spcPts val="800"/>
              </a:spcAft>
              <a:defRPr sz="2400">
                <a:solidFill>
                  <a:srgbClr val="C9D1D9"/>
                </a:solidFill>
                <a:latin typeface="Calibri"/>
              </a:defRPr>
            </a:pPr>
            <a:r>
              <a:t>Issues - track TODOs, experiments, bugs</a:t>
            </a:r>
          </a:p>
          <a:p>
            <a:pPr>
              <a:spcAft>
                <a:spcPts val="800"/>
              </a:spcAft>
              <a:defRPr sz="2400">
                <a:solidFill>
                  <a:srgbClr val="C9D1D9"/>
                </a:solidFill>
                <a:latin typeface="Calibri"/>
              </a:defRPr>
            </a:pPr>
            <a:r>
              <a:t>Pull Requests - propose and discuss changes</a:t>
            </a:r>
          </a:p>
          <a:p>
            <a:pPr>
              <a:spcAft>
                <a:spcPts val="800"/>
              </a:spcAft>
              <a:defRPr sz="2400">
                <a:solidFill>
                  <a:srgbClr val="C9D1D9"/>
                </a:solidFill>
                <a:latin typeface="Calibri"/>
              </a:defRPr>
            </a:pPr>
            <a:r>
              <a:t>Actions - automate builds, tests, deployments</a:t>
            </a:r>
          </a:p>
          <a:p>
            <a:pPr>
              <a:spcAft>
                <a:spcPts val="800"/>
              </a:spcAft>
              <a:defRPr sz="2400">
                <a:solidFill>
                  <a:srgbClr val="C9D1D9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400">
                <a:solidFill>
                  <a:srgbClr val="C9D1D9"/>
                </a:solidFill>
                <a:latin typeface="Calibri"/>
              </a:defRPr>
            </a:pPr>
            <a:r>
              <a:t>Your GitHub profile is part of your academic identity.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A6FF"/>
                </a:solidFill>
                <a:latin typeface="Calibri"/>
              </a:defRPr>
            </a:pPr>
            <a:r>
              <a:t>Block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Codespaces: Your Backup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C9D1D9"/>
                </a:solidFill>
                <a:latin typeface="Calibri"/>
              </a:defRPr>
            </a:pPr>
            <a:r>
              <a:t>Full VS Code environment in your browser</a:t>
            </a:r>
          </a:p>
          <a:p>
            <a:pPr>
              <a:spcAft>
                <a:spcPts val="800"/>
              </a:spcAft>
              <a:defRPr sz="2400">
                <a:solidFill>
                  <a:srgbClr val="C9D1D9"/>
                </a:solidFill>
                <a:latin typeface="Calibri"/>
              </a:defRPr>
            </a:pPr>
            <a:r>
              <a:t>Green Code button &gt; Codespaces &gt; New codespace</a:t>
            </a:r>
          </a:p>
          <a:p>
            <a:pPr>
              <a:spcAft>
                <a:spcPts val="800"/>
              </a:spcAft>
              <a:defRPr sz="2400">
                <a:solidFill>
                  <a:srgbClr val="C9D1D9"/>
                </a:solidFill>
                <a:latin typeface="Calibri"/>
              </a:defRPr>
            </a:pPr>
            <a:r>
              <a:t>Ready in 60 seconds, Git pre-configured</a:t>
            </a:r>
          </a:p>
          <a:p>
            <a:pPr>
              <a:spcAft>
                <a:spcPts val="800"/>
              </a:spcAft>
              <a:defRPr sz="2400">
                <a:solidFill>
                  <a:srgbClr val="C9D1D9"/>
                </a:solidFill>
                <a:latin typeface="Calibri"/>
              </a:defRPr>
            </a:pPr>
            <a:r>
              <a:t>Free for students: 180 core hours/month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A6FF"/>
                </a:solidFill>
                <a:latin typeface="Calibri"/>
              </a:defRPr>
            </a:pPr>
            <a:r>
              <a:t>Block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GitHub Actions: Push LaTeX, Get PDF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FB950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C9D1D9"/>
                </a:solidFill>
                <a:latin typeface="Calibri"/>
              </a:defRPr>
            </a:pPr>
            <a:r>
              <a:t>1. Edit paper/main.tex - change a line</a:t>
            </a:r>
          </a:p>
          <a:p>
            <a:pPr>
              <a:spcAft>
                <a:spcPts val="800"/>
              </a:spcAft>
              <a:defRPr sz="2200">
                <a:solidFill>
                  <a:srgbClr val="C9D1D9"/>
                </a:solidFill>
                <a:latin typeface="Calibri"/>
              </a:defRPr>
            </a:pPr>
            <a:r>
              <a:t>2. Commit and push</a:t>
            </a:r>
          </a:p>
          <a:p>
            <a:pPr>
              <a:spcAft>
                <a:spcPts val="800"/>
              </a:spcAft>
              <a:defRPr sz="2200">
                <a:solidFill>
                  <a:srgbClr val="C9D1D9"/>
                </a:solidFill>
                <a:latin typeface="Calibri"/>
              </a:defRPr>
            </a:pPr>
            <a:r>
              <a:t>3. Watch the Actions tab</a:t>
            </a:r>
          </a:p>
          <a:p>
            <a:pPr>
              <a:spcAft>
                <a:spcPts val="800"/>
              </a:spcAft>
              <a:defRPr sz="2200">
                <a:solidFill>
                  <a:srgbClr val="C9D1D9"/>
                </a:solidFill>
                <a:latin typeface="Calibri"/>
              </a:defRPr>
            </a:pPr>
            <a:r>
              <a:t>4. ~60 seconds later: compiled PDF as artifact</a:t>
            </a:r>
          </a:p>
          <a:p>
            <a:pPr>
              <a:spcAft>
                <a:spcPts val="800"/>
              </a:spcAft>
              <a:defRPr sz="2200">
                <a:solidFill>
                  <a:srgbClr val="C9D1D9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C9D1D9"/>
                </a:solidFill>
                <a:latin typeface="Calibri"/>
              </a:defRPr>
            </a:pPr>
            <a:r>
              <a:t>Every push to paper/ triggers a build.</a:t>
            </a:r>
          </a:p>
          <a:p>
            <a:pPr>
              <a:spcAft>
                <a:spcPts val="800"/>
              </a:spcAft>
              <a:defRPr sz="2200">
                <a:solidFill>
                  <a:srgbClr val="C9D1D9"/>
                </a:solidFill>
                <a:latin typeface="Calibri"/>
              </a:defRPr>
            </a:pPr>
            <a:r>
              <a:t>Create a Release: PDF attached automatically.</a:t>
            </a:r>
          </a:p>
          <a:p>
            <a:pPr>
              <a:spcAft>
                <a:spcPts val="800"/>
              </a:spcAft>
              <a:defRPr sz="2200">
                <a:solidFill>
                  <a:srgbClr val="C9D1D9"/>
                </a:solidFill>
                <a:latin typeface="Calibri"/>
              </a:defRPr>
            </a:pPr>
            <a:r>
              <a:t>Connect to Zenodo: archived with a DOI.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8A6FF"/>
                </a:solidFill>
                <a:latin typeface="Calibri"/>
              </a:defRPr>
            </a:pPr>
            <a:r>
              <a:t>Block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Branching &amp; Collaboration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A6FF"/>
                </a:solidFill>
                <a:latin typeface="Calibri"/>
              </a:defRPr>
            </a:pPr>
            <a:r>
              <a:t>Block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Branches: Parallel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114800"/>
          </a:xfrm>
          <a:prstGeom prst="rect">
            <a:avLst/>
          </a:prstGeom>
          <a:solidFill>
            <a:srgbClr val="0D1117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Create a branch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checkout -b experiment/iqr-outliers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Make changes, commit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add clean_data.py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commit -m "Try IQR method for outliers"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See the branch structure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log --oneline --graph --all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Switch back to main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checkout main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Original code is untouched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9D1D9"/>
                </a:solidFill>
                <a:latin typeface="Calibri"/>
              </a:defRPr>
            </a:pPr>
            <a:r>
              <a:t>Branches are parallel universes.</a:t>
            </a:r>
            <a:br/>
            <a:br/>
            <a:r>
              <a:t>main is your stable reality.</a:t>
            </a:r>
            <a:br/>
            <a:br/>
            <a:r>
              <a:t>Branches are experiments.</a:t>
            </a:r>
            <a:br/>
            <a:br/>
            <a:r>
              <a:t>If it works, merge it back.</a:t>
            </a:r>
            <a:br/>
            <a:r>
              <a:t>If not, delete the branch.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A6FF"/>
                </a:solidFill>
                <a:latin typeface="Calibri"/>
              </a:defRPr>
            </a:pPr>
            <a:r>
              <a:t>Block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Pull Requests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1371600"/>
          </a:xfrm>
          <a:prstGeom prst="rect">
            <a:avLst/>
          </a:prstGeom>
          <a:solidFill>
            <a:srgbClr val="0D1117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push origin experiment/iqr-outliers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On GitHub: "Compare &amp; pull request"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C9D1D9"/>
                </a:solidFill>
                <a:latin typeface="Calibri"/>
              </a:defRPr>
            </a:pPr>
            <a:r>
              <a:t>Write a description: what you did and why</a:t>
            </a:r>
          </a:p>
          <a:p>
            <a:pPr>
              <a:spcAft>
                <a:spcPts val="800"/>
              </a:spcAft>
              <a:defRPr sz="2200">
                <a:solidFill>
                  <a:srgbClr val="C9D1D9"/>
                </a:solidFill>
                <a:latin typeface="Calibri"/>
              </a:defRPr>
            </a:pPr>
            <a:r>
              <a:t>Files changed tab: collaborator sees exactly what changed</a:t>
            </a:r>
          </a:p>
          <a:p>
            <a:pPr>
              <a:spcAft>
                <a:spcPts val="800"/>
              </a:spcAft>
              <a:defRPr sz="2200">
                <a:solidFill>
                  <a:srgbClr val="C9D1D9"/>
                </a:solidFill>
                <a:latin typeface="Calibri"/>
              </a:defRPr>
            </a:pPr>
            <a:r>
              <a:t>Line comments: discuss specific code</a:t>
            </a:r>
          </a:p>
          <a:p>
            <a:pPr>
              <a:spcAft>
                <a:spcPts val="800"/>
              </a:spcAft>
              <a:defRPr sz="2200">
                <a:solidFill>
                  <a:srgbClr val="C9D1D9"/>
                </a:solidFill>
                <a:latin typeface="Calibri"/>
              </a:defRPr>
            </a:pPr>
            <a:r>
              <a:t>Approve and merge when ready</a:t>
            </a:r>
          </a:p>
          <a:p>
            <a:pPr>
              <a:spcAft>
                <a:spcPts val="800"/>
              </a:spcAft>
              <a:defRPr sz="2200">
                <a:solidFill>
                  <a:srgbClr val="C9D1D9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C9D1D9"/>
                </a:solidFill>
                <a:latin typeface="Calibri"/>
              </a:defRPr>
            </a:pPr>
            <a:r>
              <a:t>You don't email code. You open a pull request.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A6FF"/>
                </a:solidFill>
                <a:latin typeface="Calibri"/>
              </a:defRPr>
            </a:pPr>
            <a:r>
              <a:t>Block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Exercise 2: Collaboration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FB950"/>
                </a:solidFill>
                <a:latin typeface="Calibri"/>
              </a:defRPr>
            </a:pPr>
            <a:r>
              <a:t>Pair up with someone near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Person A: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  1. Create repo: collab-research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  2. Copy template files, commit, push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  3. Settings &gt; Collaborators &gt; add Person B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Person B: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  1. Accept invitation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  2. Clone the repo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3200400"/>
          </a:xfrm>
          <a:prstGeom prst="rect">
            <a:avLst/>
          </a:prstGeom>
          <a:solidFill>
            <a:srgbClr val="0D1117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Person A: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clone https://github.com/...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cd collab-research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copy template files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add . &amp;&amp; git commit -m "Initial files"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push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Person B: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clone https://github.com/...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cd collab-research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A6FF"/>
                </a:solidFill>
                <a:latin typeface="Calibri"/>
              </a:defRPr>
            </a:pPr>
            <a:r>
              <a:t>Block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Round 1: The Happy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FB950"/>
                </a:solidFill>
                <a:latin typeface="Calibri"/>
              </a:defRPr>
            </a:pPr>
            <a:r>
              <a:t>10 minutes - edit DIFFERENT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solidFill>
            <a:srgbClr val="0D1117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Person A: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checkout -b feature/improve-analysis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Edit analysis.py - add a function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add analysis.py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commit -m "Add seasonal averages"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push origin feature/improve-analysis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Open a PR on 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0D1117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Person B: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checkout -b feature/update-docs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Edit README.md - add Methods section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add README.md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commit -m "Add methods section"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push origin feature/update-docs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Open a PR on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29E22"/>
                </a:solidFill>
                <a:latin typeface="Calibri"/>
              </a:defRPr>
            </a:pPr>
            <a:r>
              <a:t>Review each other's PR. Leave a comment. Approve and merge.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A6FF"/>
                </a:solidFill>
                <a:latin typeface="Calibri"/>
              </a:defRPr>
            </a:pPr>
            <a:r>
              <a:t>Block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Round 2: The Merge Conflict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5349"/>
                </a:solidFill>
                <a:latin typeface="Calibri"/>
              </a:defRPr>
            </a:pPr>
            <a:r>
              <a:t>10 minutes - edit the SAME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3657600"/>
          </a:xfrm>
          <a:prstGeom prst="rect">
            <a:avLst/>
          </a:prstGeom>
          <a:solidFill>
            <a:srgbClr val="0D1117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Both pull latest main first: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checkout main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pull origin main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Person A: branch, edit line 1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checkout -b experiment/method-a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Change line 1 of analysis.py to: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"Method A: Linear Regression"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Commit, push, open PR, MERGE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Person B: branch, edit line 1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checkout -b experiment/method-b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Change line 1 of analysis.py to: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"Method B: Random Forest"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Commit, push, open PR...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5349"/>
                </a:solidFill>
                <a:latin typeface="Calibri"/>
              </a:defRPr>
            </a:pPr>
            <a:r>
              <a:t>Merge conflict!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029200" cy="3200400"/>
          </a:xfrm>
          <a:prstGeom prst="rect">
            <a:avLst/>
          </a:prstGeom>
          <a:solidFill>
            <a:srgbClr val="0D1117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Person B resolves: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pull origin main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You'll see in the file: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&lt;&lt;&lt;&lt;&lt;&lt;&lt; HEAD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Method B: Random Forest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=======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Method A: Linear Regression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&gt;&gt;&gt;&gt;&gt;&gt;&gt; main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Edit to keep what you want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Remove the markers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add analysis.py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commit -m "Resolve conflict"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push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A6FF"/>
                </a:solidFill>
                <a:latin typeface="Calibri"/>
              </a:defRPr>
            </a:pPr>
            <a:r>
              <a:t>Block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Merge Conflicts are Conversations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C9D1D9"/>
                </a:solidFill>
                <a:latin typeface="Calibri"/>
              </a:defRPr>
            </a:pPr>
            <a:r>
              <a:t>Conflicts are not errors</a:t>
            </a:r>
          </a:p>
          <a:p>
            <a:pPr>
              <a:spcAft>
                <a:spcPts val="800"/>
              </a:spcAft>
              <a:defRPr sz="2400">
                <a:solidFill>
                  <a:srgbClr val="C9D1D9"/>
                </a:solidFill>
                <a:latin typeface="Calibri"/>
              </a:defRPr>
            </a:pPr>
            <a:r>
              <a:t>Git is saying: 'Two changes to the same spot - you decide'</a:t>
            </a:r>
          </a:p>
          <a:p>
            <a:pPr>
              <a:spcAft>
                <a:spcPts val="800"/>
              </a:spcAft>
              <a:defRPr sz="2400">
                <a:solidFill>
                  <a:srgbClr val="C9D1D9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400">
                <a:solidFill>
                  <a:srgbClr val="C9D1D9"/>
                </a:solidFill>
                <a:latin typeface="Calibri"/>
              </a:defRPr>
            </a:pPr>
            <a:r>
              <a:t>Prevent them by:</a:t>
            </a:r>
          </a:p>
          <a:p>
            <a:pPr>
              <a:spcAft>
                <a:spcPts val="800"/>
              </a:spcAft>
              <a:defRPr sz="2400">
                <a:solidFill>
                  <a:srgbClr val="C9D1D9"/>
                </a:solidFill>
                <a:latin typeface="Calibri"/>
              </a:defRPr>
            </a:pPr>
            <a:r>
              <a:t>  Working on different files when possible</a:t>
            </a:r>
          </a:p>
          <a:p>
            <a:pPr>
              <a:spcAft>
                <a:spcPts val="800"/>
              </a:spcAft>
              <a:defRPr sz="2400">
                <a:solidFill>
                  <a:srgbClr val="C9D1D9"/>
                </a:solidFill>
                <a:latin typeface="Calibri"/>
              </a:defRPr>
            </a:pPr>
            <a:r>
              <a:t>  Pulling often</a:t>
            </a:r>
          </a:p>
          <a:p>
            <a:pPr>
              <a:spcAft>
                <a:spcPts val="800"/>
              </a:spcAft>
              <a:defRPr sz="2400">
                <a:solidFill>
                  <a:srgbClr val="C9D1D9"/>
                </a:solidFill>
                <a:latin typeface="Calibri"/>
              </a:defRPr>
            </a:pPr>
            <a:r>
              <a:t>  Communicating with your team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8A6FF"/>
                </a:solidFill>
                <a:latin typeface="Calibri"/>
              </a:defRPr>
            </a:pPr>
            <a:r>
              <a:t>Block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Research Workflow Patterns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A6FF"/>
                </a:solidFill>
                <a:latin typeface="Calibri"/>
              </a:defRPr>
            </a:pPr>
            <a:r>
              <a:t>Block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Quick-Fire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Commit early, commit often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  After every logical step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Write meaningful messages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  "Add regression for hypothesis 2"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  not "update"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Branch naming conventions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  experiment/new-model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  fix/data-cleaning-bug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1828800"/>
          </a:xfrm>
          <a:prstGeom prst="rect">
            <a:avLst/>
          </a:prstGeom>
          <a:solidFill>
            <a:srgbClr val="0D1117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Tag your submissions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tag -a v1.0-submitted \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  -m "Submitted to Nature, May 2026"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git push origin --tags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657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9D1D9"/>
                </a:solidFill>
                <a:latin typeface="Calibri"/>
              </a:defRPr>
            </a:pPr>
            <a:r>
              <a:t>Fork-ready templates:</a:t>
            </a:r>
            <a:br/>
            <a:br/>
            <a:r>
              <a:t>Research Paper Template</a:t>
            </a:r>
            <a:br/>
            <a:r>
              <a:t>  LaTeX + Actions auto-build PDF</a:t>
            </a:r>
            <a:br/>
            <a:br/>
            <a:r>
              <a:t>Research Notebook Template</a:t>
            </a:r>
            <a:br/>
            <a:r>
              <a:t>  nbstripout + CI validation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8A6FF"/>
                </a:solidFill>
                <a:latin typeface="Calibri"/>
              </a:defRPr>
            </a:pPr>
            <a:r>
              <a:t>Block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GitHub Copilot</a:t>
            </a:r>
            <a:br/>
            <a:r>
              <a:t>Your AI Pair Programmer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A6FF"/>
                </a:solidFill>
                <a:latin typeface="Calibri"/>
              </a:defRPr>
            </a:pPr>
            <a:r>
              <a:t>Block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When You're Stuck at Midnight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FB950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1828800"/>
          </a:xfrm>
          <a:prstGeom prst="rect">
            <a:avLst/>
          </a:prstGeom>
          <a:solidFill>
            <a:srgbClr val="0D1117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Scenario: you accidentally committed a 500MB data file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gh copilot suggest "I accidentally committed a large data file to my repo.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  How do I remove it from the git history completely?"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1371600"/>
          </a:xfrm>
          <a:prstGeom prst="rect">
            <a:avLst/>
          </a:prstGeom>
          <a:solidFill>
            <a:srgbClr val="0D1117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# Or explain a scary command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E6EDF3"/>
                </a:solidFill>
                <a:latin typeface="Consolas"/>
              </a:defRPr>
            </a:pPr>
            <a:r>
              <a:t>gh copilot explain "git rebase -i HEAD~3"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8A6FF"/>
                </a:solidFill>
                <a:latin typeface="Calibri"/>
              </a:defRPr>
            </a:pPr>
            <a:r>
              <a:t>Free for students via the GitHub Student Developer Pack</a:t>
            </a:r>
            <a:br/>
            <a:r>
              <a:t>education.github.com/pack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A6FF"/>
                </a:solidFill>
                <a:latin typeface="Calibri"/>
              </a:defRPr>
            </a:pPr>
            <a:r>
              <a:t>Block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Keep Going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Pro Git book (free)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  git-scm.com/book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GitHub Skills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  skills.github.com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Software Carpentry Git lesson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  swcarpentry.github.io/git-novice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Oh Shit, Git!?!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  ohshitgit.com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Your handouts: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  Git Cheat Sheet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  GitHub Copilot One-Pager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Workshop materials: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  github.com/johnazariah/git-and-github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Templates: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  research-paper-template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  <a:latin typeface="Calibri"/>
              </a:defRPr>
            </a:pPr>
            <a:r>
              <a:t>  research-notebook-template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9D1D9"/>
                </a:solidFill>
                <a:latin typeface="Calibri"/>
              </a:defRPr>
            </a:pPr>
            <a:r>
              <a:t>github.com/johnazariah/git-and-github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